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DEB"/>
          </a:solidFill>
          <a:ln w="12700">
            <a:solidFill>
              <a:srgbClr val="14BD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5276">
              <a:alpha val="40000"/>
            </a:srgbClr>
          </a:solidFill>
          <a:ln w="12700">
            <a:solidFill>
              <a:srgbClr val="1A527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OpenBank POC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Regional Payment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640080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Portfolio Project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92024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035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3017520"/>
            <a:ext cx="192024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3035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4640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Corporate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3017520"/>
            <a:ext cx="192024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035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+ 6 Countries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3017520"/>
            <a:ext cx="192024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3035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40880" y="3310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POC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Portfolio &amp; Job Application Use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10512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8562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32304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4780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Systems Scope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5409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54096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0998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Breakdown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7588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675888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7216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Operations Portal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97680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343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1887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1810512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1810512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18562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Framework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2432304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2432304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24780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Monitoring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3054096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054096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30998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 &amp; Timeline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46320" y="3675888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3675888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40680" y="37216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Out of Scope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46320" y="42976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46320" y="4297680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40680" y="4343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3474720"/>
          </a:xfrm>
          <a:prstGeom prst="rect">
            <a:avLst/>
          </a:prstGeom>
          <a:solidFill>
            <a:srgbClr val="EAF4FB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OpenBank POC?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Singapore-centric payment middleware system that: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Receives payment messages from external web/mobile portals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Transforms and routes to CAS / G3 Host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Interfaces with 6 regional payment networks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an Operations Portal for monitoring and management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Operations Team only (not public-facing)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1148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234440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7800" y="11795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Middleware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receive, transform &amp; route (FAST/PayNow ↔ CAS/G3)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819656"/>
            <a:ext cx="41148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911096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18562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Connectivity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20939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with MY, IN, VN, HK, ID, PH payment rails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96312"/>
            <a:ext cx="41148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587752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2532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Portal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2770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view reports, correct &amp; replay transactions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172968"/>
            <a:ext cx="41148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26440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32095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Audit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3447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trail, role-based access, compliance logging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849624"/>
            <a:ext cx="41148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941064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3886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Showcase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41239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Production-quality code for job applications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" y="914400"/>
            <a:ext cx="1920240" cy="3657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173736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14BD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98448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(FAST/PayNow)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1709928"/>
            <a:ext cx="173736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14BD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709928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(FAST/PayNow)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2121408"/>
            <a:ext cx="173736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14BD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21408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DuitNow (MY)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2532888"/>
            <a:ext cx="173736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14BD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532888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(IN)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944368"/>
            <a:ext cx="173736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14BD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944368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NAPAS (VN)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3355848"/>
            <a:ext cx="173736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14BD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355848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(HK)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3767328"/>
            <a:ext cx="173736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14BD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767328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BI-FAST (ID)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4178808"/>
            <a:ext cx="173736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14BD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178808"/>
            <a:ext cx="17373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InstaPay (PH)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48840" y="1472184"/>
            <a:ext cx="502920" cy="0"/>
          </a:xfrm>
          <a:prstGeom prst="line">
            <a:avLst/>
          </a:prstGeom>
          <a:noFill/>
          <a:ln w="19050">
            <a:solidFill>
              <a:srgbClr val="14BD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48840" y="1883664"/>
            <a:ext cx="502920" cy="0"/>
          </a:xfrm>
          <a:prstGeom prst="line">
            <a:avLst/>
          </a:prstGeom>
          <a:noFill/>
          <a:ln w="19050">
            <a:solidFill>
              <a:srgbClr val="14BD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2295144"/>
            <a:ext cx="502920" cy="0"/>
          </a:xfrm>
          <a:prstGeom prst="line">
            <a:avLst/>
          </a:prstGeom>
          <a:noFill/>
          <a:ln w="19050">
            <a:solidFill>
              <a:srgbClr val="14BD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48840" y="2706624"/>
            <a:ext cx="502920" cy="0"/>
          </a:xfrm>
          <a:prstGeom prst="line">
            <a:avLst/>
          </a:prstGeom>
          <a:noFill/>
          <a:ln w="19050">
            <a:solidFill>
              <a:srgbClr val="14BD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48840" y="3118104"/>
            <a:ext cx="502920" cy="0"/>
          </a:xfrm>
          <a:prstGeom prst="line">
            <a:avLst/>
          </a:prstGeom>
          <a:noFill/>
          <a:ln w="19050">
            <a:solidFill>
              <a:srgbClr val="14BD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48840" y="3529584"/>
            <a:ext cx="502920" cy="0"/>
          </a:xfrm>
          <a:prstGeom prst="line">
            <a:avLst/>
          </a:prstGeom>
          <a:noFill/>
          <a:ln w="19050">
            <a:solidFill>
              <a:srgbClr val="14BD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48840" y="3941064"/>
            <a:ext cx="502920" cy="0"/>
          </a:xfrm>
          <a:prstGeom prst="line">
            <a:avLst/>
          </a:prstGeom>
          <a:noFill/>
          <a:ln w="19050">
            <a:solidFill>
              <a:srgbClr val="14BD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48840" y="4352544"/>
            <a:ext cx="502920" cy="0"/>
          </a:xfrm>
          <a:prstGeom prst="line">
            <a:avLst/>
          </a:prstGeom>
          <a:noFill/>
          <a:ln w="19050">
            <a:solidFill>
              <a:srgbClr val="14BD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1760" y="914400"/>
            <a:ext cx="3200400" cy="3657600"/>
          </a:xfrm>
          <a:prstGeom prst="rect">
            <a:avLst/>
          </a:prstGeom>
          <a:solidFill>
            <a:srgbClr val="0D7377">
              <a:alpha val="80000"/>
            </a:srgbClr>
          </a:solidFill>
          <a:ln w="254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651760" y="932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OPENBANK MIDDLEWARE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88920" y="1389888"/>
            <a:ext cx="2926080" cy="438912"/>
          </a:xfrm>
          <a:prstGeom prst="rect">
            <a:avLst/>
          </a:prstGeom>
          <a:solidFill>
            <a:srgbClr val="0A2342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14081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Ingestion Layer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34640" y="16093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 / ISO 20022 / REST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88920" y="1901952"/>
            <a:ext cx="2926080" cy="438912"/>
          </a:xfrm>
          <a:prstGeom prst="rect">
            <a:avLst/>
          </a:prstGeom>
          <a:solidFill>
            <a:srgbClr val="0A2342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19202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Transformation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834640" y="21214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conversion &amp; enrichment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88920" y="2414016"/>
            <a:ext cx="2926080" cy="438912"/>
          </a:xfrm>
          <a:prstGeom prst="rect">
            <a:avLst/>
          </a:prstGeom>
          <a:solidFill>
            <a:srgbClr val="0A2342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0" y="24323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Engine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34640" y="26334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routing logic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88920" y="2926080"/>
            <a:ext cx="2926080" cy="438912"/>
          </a:xfrm>
          <a:prstGeom prst="rect">
            <a:avLst/>
          </a:prstGeom>
          <a:solidFill>
            <a:srgbClr val="0A2342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294436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834640" y="31455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&amp; retry handler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88920" y="3438144"/>
            <a:ext cx="2926080" cy="438912"/>
          </a:xfrm>
          <a:prstGeom prst="rect">
            <a:avLst/>
          </a:prstGeom>
          <a:solidFill>
            <a:srgbClr val="0A2342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34564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Logging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834640" y="36576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&amp; event log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88920" y="3950208"/>
            <a:ext cx="2926080" cy="438912"/>
          </a:xfrm>
          <a:prstGeom prst="rect">
            <a:avLst/>
          </a:prstGeom>
          <a:solidFill>
            <a:srgbClr val="0A2342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0" y="39684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API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834640" y="416966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for Ops Portal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852160" y="1645920"/>
            <a:ext cx="50292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52160" y="2468880"/>
            <a:ext cx="50292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52160" y="3291840"/>
            <a:ext cx="502920" cy="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914400"/>
            <a:ext cx="2560320" cy="3657600"/>
          </a:xfrm>
          <a:prstGeom prst="rect">
            <a:avLst/>
          </a:prstGeom>
          <a:solidFill>
            <a:srgbClr val="1A5276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35508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SYSTEMS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492240" y="1298448"/>
            <a:ext cx="2286000" cy="475488"/>
          </a:xfrm>
          <a:prstGeom prst="rect">
            <a:avLst/>
          </a:prstGeom>
          <a:solidFill>
            <a:srgbClr val="1A3A5C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Host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92240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492240" y="1847088"/>
            <a:ext cx="2286000" cy="475488"/>
          </a:xfrm>
          <a:prstGeom prst="rect">
            <a:avLst/>
          </a:prstGeom>
          <a:solidFill>
            <a:srgbClr val="1A3A5C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Host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92240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492240" y="2395728"/>
            <a:ext cx="228600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0" y="2414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92240" y="2651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DB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492240" y="2944368"/>
            <a:ext cx="228600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92240" y="29626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492240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/ Auth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492240" y="3493008"/>
            <a:ext cx="228600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92240" y="35112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Portal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49224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492240" y="4041648"/>
            <a:ext cx="228600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92240" y="4059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Grafana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492240" y="4297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Web Portal &amp; Mobile App are OUT OF SCOPE. They initiate payment messages consumed by OpenBank Middleware.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Systems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8778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— Core Instant Payments (Start Here)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87782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630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 FAST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481328"/>
            <a:ext cx="1188720" cy="201168"/>
          </a:xfrm>
          <a:prstGeom prst="rect">
            <a:avLst/>
          </a:prstGeom>
          <a:solidFill>
            <a:srgbClr val="0E7C4A">
              <a:alpha val="20000"/>
            </a:srgbClr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4813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Instant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06240" y="146304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Secure Transfers — SGD interbank instant push payment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764792"/>
            <a:ext cx="8778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1051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 PayNow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181051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1828800"/>
            <a:ext cx="1188720" cy="201168"/>
          </a:xfrm>
          <a:prstGeom prst="rect">
            <a:avLst/>
          </a:prstGeom>
          <a:solidFill>
            <a:srgbClr val="0E7C4A">
              <a:alpha val="20000"/>
            </a:srgbClr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828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Instant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0" y="1810512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Proxy-based (NRIC/Mobile/UEN) overlay on FAST network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112264"/>
            <a:ext cx="87782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1579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🇲🇾 DuitNow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91640" y="215798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2176272"/>
            <a:ext cx="1188720" cy="201168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176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06240" y="2157984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↔ DuitNow bilateral linkage (MAS-BNM) SGD/MYR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2459736"/>
            <a:ext cx="8778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50545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UPI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91640" y="250545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2523744"/>
            <a:ext cx="1188720" cy="201168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5237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06240" y="2505456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↔ UPI bilateral linkage (MAS-RBI) SGD/INR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2807208"/>
            <a:ext cx="87782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85292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 NAPAS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91640" y="285292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926080" y="2871216"/>
            <a:ext cx="1188720" cy="201168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28712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06240" y="285292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↔ NAPAS bilateral linkage (MAS-SBV) SGD/VND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82880" y="3154680"/>
            <a:ext cx="8778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2004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🇭🇰 FPS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691640" y="32004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26080" y="3218688"/>
            <a:ext cx="1188720" cy="201168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32186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06240" y="320040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↔ FPS bilateral linkage (MAS-HKMA) SGD/HKD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82880" y="3502152"/>
            <a:ext cx="877824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54787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BI-FAST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691640" y="354787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26080" y="3566160"/>
            <a:ext cx="1188720" cy="201168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0" y="3566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206240" y="3547872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↔ BI-FAST bilateral linkage (MAS-BI) SGD/IDR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82880" y="3849624"/>
            <a:ext cx="87782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89534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🇵🇭 InstaPay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691640" y="389534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26080" y="3913632"/>
            <a:ext cx="1188720" cy="201168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06240" y="3895344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↔ InstaPay bilateral linkage (MAS-BSP) SGD/PHP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82880" y="4645152"/>
            <a:ext cx="4297680" cy="320040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663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(Next): GIRO • NETS • MEPS+ • SWIFT • Bulk Payments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4645152"/>
            <a:ext cx="4297680" cy="320040"/>
          </a:xfrm>
          <a:prstGeom prst="rect">
            <a:avLst/>
          </a:prstGeom>
          <a:solidFill>
            <a:srgbClr val="64748B">
              <a:alpha val="2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4663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 (Later): Card Payments • Digital Wallets • Remittance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Breakdown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283464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115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Ingestion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REST/MQ listener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1965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ISO 8583 parser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ISO 20022 parser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5000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Message validation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61518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Duplicate detection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05156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051560"/>
            <a:ext cx="283464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48456" y="1115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Engine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155448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Format converter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181965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Field mapping rules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08483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Currency conversion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235000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Enrichment service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261518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Schema registry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63056" y="105156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1051560"/>
            <a:ext cx="2834640" cy="43891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38544" y="1115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Engine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0216" y="155448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Rules-based router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0216" y="181965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Network selector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0216" y="208483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Retry logic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0216" y="235000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Fallback handler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0216" y="261518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SLA tracker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301752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3017520"/>
            <a:ext cx="2834640" cy="438912"/>
          </a:xfrm>
          <a:prstGeom prst="rect">
            <a:avLst/>
          </a:prstGeom>
          <a:solidFill>
            <a:srgbClr val="0E7C4A"/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" y="352044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State machine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37856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Lifecycle tracking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05079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Exception handler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3159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Replay engine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458114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Reconciliation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72968" y="301752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72968" y="3017520"/>
            <a:ext cx="283464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72968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648456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Adapters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10128" y="352044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CAS adapter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10128" y="37856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G3 adapter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10128" y="405079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PayNow gateway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10128" y="43159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Regional connectors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10128" y="458114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SWIFT MX/MT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63056" y="301752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63056" y="3017520"/>
            <a:ext cx="2834640" cy="43891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63056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638544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Portal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00216" y="352044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Transaction monitor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0216" y="37856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Report dashboard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00216" y="405079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Correction UI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00216" y="43159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Replay console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00216" y="458114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Audit viewer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— Operations Portal (Ops Team Only)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8778240" cy="347472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Note: UI is NOT public-facing. Web Portal &amp; Mobile App (FAST/PayNow initiation) are OUT OF SCOPE. This portal is for Operations Team ONLY.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283464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417320"/>
            <a:ext cx="28346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7218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8928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transaction feed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1671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Volume &amp; value counters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41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Success/fail rate gauges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7157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status indicators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417320"/>
            <a:ext cx="283464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417320"/>
            <a:ext cx="28346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47218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Transaction Monitor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8928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&amp; filter transactions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1671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full message payloads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441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tracking timeline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7157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to CSV/Excel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63056" y="1417320"/>
            <a:ext cx="283464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1417320"/>
            <a:ext cx="28346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47218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Transaction Correction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0216" y="18928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failed/stuck txns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0216" y="21671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field correction UI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0216" y="2441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Correction audit logging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0216" y="27157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Supervisor approval flow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3200400"/>
            <a:ext cx="283464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200400"/>
            <a:ext cx="28346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2552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Replay Console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" y="36758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 transactions to replay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3950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Preview before resubmit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Bulk replay support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Replay result tracking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172968" y="3200400"/>
            <a:ext cx="283464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72968" y="3200400"/>
            <a:ext cx="28346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32552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Reports &amp; Analytics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10128" y="36758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settlement reports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10128" y="3950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Network-wise volume report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10128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Exception/error reports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10128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trend charts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63056" y="3200400"/>
            <a:ext cx="283464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63056" y="3200400"/>
            <a:ext cx="28346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32552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Log Viewer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00216" y="36758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audit trail search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0216" y="3950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activity log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0216" y="4224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event log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0216" y="4498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Downloadable reports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 (100% Free / Open Source)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05740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0574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Java 21 (OpenJDK)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Spring Boot 3.x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Spring Integration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Spring Security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Maven / Gradle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1005840"/>
            <a:ext cx="205740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77440" y="1005840"/>
            <a:ext cx="20574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005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React.js 18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87168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Tailwind CSS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Axios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87168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React Query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87168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Recharts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205740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0E7C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005840"/>
            <a:ext cx="2057400" cy="384048"/>
          </a:xfrm>
          <a:prstGeom prst="rect">
            <a:avLst/>
          </a:prstGeom>
          <a:solidFill>
            <a:srgbClr val="0E7C4A"/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005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81728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PostgreSQL 16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81728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pgAdmin 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81728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Flyway Migration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81728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Redis (Cache)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81728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Hibernate ORM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66560" y="1005840"/>
            <a:ext cx="205740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1005840"/>
            <a:ext cx="20574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005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76288" y="1444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Keycloak (IAM)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76288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JWT / OAuth 2.0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76288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Spring Security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76288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OWASP ZAP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76288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SSL/TLS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82880" y="2971800"/>
            <a:ext cx="205740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880" y="2971800"/>
            <a:ext cx="205740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2971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608" y="3410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Apache Kafka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2608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RabbitMQ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92608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ISO 8583 lib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92608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ISO 20022 (JAXB)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92608" y="4507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ActiveMQ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377440" y="2971800"/>
            <a:ext cx="205740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377440" y="2971800"/>
            <a:ext cx="20574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0" y="2971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487168" y="3410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Docker &amp; Compose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487168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Git &amp; GitHub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487168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VS Code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487168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Minikube (K8s)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487168" y="4507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Nginx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0" y="2971800"/>
            <a:ext cx="205740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72000" y="2971800"/>
            <a:ext cx="205740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2971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681728" y="3410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JUnit 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681728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Mockito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681728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Postman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681728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SonarQube CE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681728" y="4507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WireMock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766560" y="2971800"/>
            <a:ext cx="2057400" cy="1828800"/>
          </a:xfrm>
          <a:prstGeom prst="rect">
            <a:avLst/>
          </a:prstGeom>
          <a:solidFill>
            <a:srgbClr val="0D1B2A"/>
          </a:solidFill>
          <a:ln w="19050">
            <a:solidFill>
              <a:srgbClr val="2C3E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766560" y="2971800"/>
            <a:ext cx="205740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66560" y="2971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876288" y="3410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Prometheus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876288" y="3685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Grafana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876288" y="3959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ELK Stack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876288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Zipkin (Tracing)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876288" y="4507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Actuator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Key Tables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834640" cy="1828800"/>
          </a:xfrm>
          <a:prstGeom prst="rect">
            <a:avLst/>
          </a:prstGeom>
          <a:solidFill>
            <a:srgbClr val="F1F5F9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8346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txn_id (PK)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txn_ref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79222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txn_type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965960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139696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31343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48716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source_network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66090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dest_network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834640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008376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72968" y="1005840"/>
            <a:ext cx="2834640" cy="1828800"/>
          </a:xfrm>
          <a:prstGeom prst="rect">
            <a:avLst/>
          </a:prstGeom>
          <a:solidFill>
            <a:srgbClr val="F1F5F9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005840"/>
            <a:ext cx="283464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1005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payment_messages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144475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msg_id (PK)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161848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txn_id (FK)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10128" y="179222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1965960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format_type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0128" y="2139696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raw_payload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0128" y="231343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transformed_payload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0128" y="248716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0128" y="266090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received_at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63056" y="1005840"/>
            <a:ext cx="2834640" cy="1828800"/>
          </a:xfrm>
          <a:prstGeom prst="rect">
            <a:avLst/>
          </a:prstGeom>
          <a:solidFill>
            <a:srgbClr val="F1F5F9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63056" y="1005840"/>
            <a:ext cx="283464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1005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network_routing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0216" y="144475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 (PK)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0216" y="161848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network_code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0216" y="179222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country_code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0216" y="1965960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00216" y="2139696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endpoint_url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0216" y="231343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timeout_ms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0216" y="248716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0216" y="266090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max_retry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2971800"/>
            <a:ext cx="2834640" cy="1828800"/>
          </a:xfrm>
          <a:prstGeom prst="rect">
            <a:avLst/>
          </a:prstGeom>
          <a:solidFill>
            <a:srgbClr val="F1F5F9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82880" y="2971800"/>
            <a:ext cx="28346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correction_log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" y="341071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log_id (PK)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0040" y="358444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txn_id (FK)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" y="375818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corrected_by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" y="3931920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original_value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" y="4105656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new_value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" y="427939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0040" y="445312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approved_by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0040" y="462686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corrected_at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172968" y="2971800"/>
            <a:ext cx="2834640" cy="1828800"/>
          </a:xfrm>
          <a:prstGeom prst="rect">
            <a:avLst/>
          </a:prstGeom>
          <a:solidFill>
            <a:srgbClr val="F1F5F9"/>
          </a:solidFill>
          <a:ln w="19050">
            <a:solidFill>
              <a:srgbClr val="0E7C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172968" y="2971800"/>
            <a:ext cx="2834640" cy="384048"/>
          </a:xfrm>
          <a:prstGeom prst="rect">
            <a:avLst/>
          </a:prstGeom>
          <a:solidFill>
            <a:srgbClr val="0E7C4A"/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72968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audit_trail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310128" y="341071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audit_id (PK)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10128" y="358444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entity_type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10128" y="375818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entity_id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10128" y="3931920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10128" y="4105656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actor_id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10128" y="427939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ip_address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10128" y="445312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request_payload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310128" y="462686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63056" y="2971800"/>
            <a:ext cx="2834640" cy="1828800"/>
          </a:xfrm>
          <a:prstGeom prst="rect">
            <a:avLst/>
          </a:prstGeom>
          <a:solidFill>
            <a:srgbClr val="F1F5F9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63056" y="2971800"/>
            <a:ext cx="283464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63056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ops_users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300216" y="341071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(PK)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300216" y="358444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300216" y="375818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300216" y="3931920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300216" y="4105656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keycloak_id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300216" y="4279392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300216" y="4453128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last_login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300216" y="4626864"/>
            <a:ext cx="2606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83464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6070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Identity &amp; Access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1481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Keycloak for SSO &amp; IAM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" y="1755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OAuth 2.0 / OpenID Connect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2029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 (Admin, Supervisor, Ops)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" y="2304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token validation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timeout enforcement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100584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005840"/>
            <a:ext cx="28346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06070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Transport Security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82696" y="1481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TLS 1.3 for all connections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82696" y="1755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Certificate pinning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82696" y="2029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mTLS for inter-service comms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82696" y="2304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Gateway with rate limiting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82696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 whitelisting for partners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63056" y="100584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1005840"/>
            <a:ext cx="2834640" cy="411480"/>
          </a:xfrm>
          <a:prstGeom prst="rect">
            <a:avLst/>
          </a:prstGeom>
          <a:solidFill>
            <a:srgbClr val="0E7C4A"/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06070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Data Security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72784" y="1481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Encryption at rest (AES-256)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72784" y="1755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field masking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72784" y="2029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PAN/account number tokenisation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72784" y="2304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access controls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72784" y="2578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Secrets vault (HashiCorp/env)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297180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2971800"/>
            <a:ext cx="28346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0266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Application Security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2608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validation &amp; sanitisation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injection prevention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" y="3995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Top 10 compliance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" y="4270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CSRF protection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2608" y="4544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ZAP security scanning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72968" y="297180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72968" y="2971800"/>
            <a:ext cx="283464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30266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&amp; Compliance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82696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Immutable audit trail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82696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corrections logged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82696" y="3995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Non-repudiation for txns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82696" y="4270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activity monitoring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82696" y="4544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report generation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63056" y="297180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63056" y="2971800"/>
            <a:ext cx="2834640" cy="411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302666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Network Security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72784" y="3447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DMZ architecture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72784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Firewall rules per network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72784" y="3995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rate limiting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72784" y="4270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DDoS protection (Nginx)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72784" y="4544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Encrypted message queues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Monitoring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Reports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42062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Daily Transaction Summary (by network, status, currency)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" y="1773936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196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Hourly Volume &amp; Throughput Report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2176272"/>
            <a:ext cx="42062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219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Failed / Exception Transaction Report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2578608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24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Correction &amp; Replay Activity Report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2980944"/>
            <a:ext cx="42062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266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Network Availability &amp; Downtime Report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338328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29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Cross-Border Settlement Report (per country)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785616"/>
            <a:ext cx="42062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8313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End-of-Day Reconciliation Report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29768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(Prometheus + Grafana)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42976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426464"/>
            <a:ext cx="914400" cy="228600"/>
          </a:xfrm>
          <a:prstGeom prst="rect">
            <a:avLst/>
          </a:prstGeom>
          <a:solidFill>
            <a:srgbClr val="1A5276">
              <a:alpha val="2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4264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23560" y="143560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per second (live)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77393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828800"/>
            <a:ext cx="914400" cy="228600"/>
          </a:xfrm>
          <a:prstGeom prst="rect">
            <a:avLst/>
          </a:prstGeom>
          <a:solidFill>
            <a:srgbClr val="1A5276">
              <a:alpha val="2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23560" y="183794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processing time (P50/P95/P99)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176272"/>
            <a:ext cx="42976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231136"/>
            <a:ext cx="914400" cy="228600"/>
          </a:xfrm>
          <a:prstGeom prst="rect">
            <a:avLst/>
          </a:prstGeom>
          <a:solidFill>
            <a:srgbClr val="1A5276">
              <a:alpha val="2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2311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23560" y="22402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failed transactions per network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57860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633472"/>
            <a:ext cx="914400" cy="228600"/>
          </a:xfrm>
          <a:prstGeom prst="rect">
            <a:avLst/>
          </a:prstGeom>
          <a:solidFill>
            <a:srgbClr val="1A5276">
              <a:alpha val="2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633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23560" y="264261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Kafka/RabbitMQ message queue depth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2980944"/>
            <a:ext cx="42976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035808"/>
            <a:ext cx="914400" cy="228600"/>
          </a:xfrm>
          <a:prstGeom prst="rect">
            <a:avLst/>
          </a:prstGeom>
          <a:solidFill>
            <a:srgbClr val="1A5276">
              <a:alpha val="2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 Pool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23560" y="304495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idle DB connections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38328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3438144"/>
            <a:ext cx="914400" cy="228600"/>
          </a:xfrm>
          <a:prstGeom prst="rect">
            <a:avLst/>
          </a:prstGeom>
          <a:solidFill>
            <a:srgbClr val="1A5276">
              <a:alpha val="2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438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Health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23560" y="3447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&amp; G3 host response time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785616"/>
            <a:ext cx="429768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840480"/>
            <a:ext cx="914400" cy="228600"/>
          </a:xfrm>
          <a:prstGeom prst="rect">
            <a:avLst/>
          </a:prstGeom>
          <a:solidFill>
            <a:srgbClr val="1A5276">
              <a:alpha val="2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840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 Metrics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23560" y="384962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Heap, GC, thread count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82880" y="4663440"/>
            <a:ext cx="8778240" cy="292608"/>
          </a:xfrm>
          <a:prstGeom prst="rect">
            <a:avLst/>
          </a:prstGeom>
          <a:solidFill>
            <a:srgbClr val="0A2342">
              <a:alpha val="15000"/>
            </a:srgbClr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700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ELK Stack: Elasticsearch + Logstash + Kibana — centralized log aggregation, full-text search, and dashboards for all application logs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 &amp; Timeline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&lt; 5 hours/week availability. Total estimated duration: ~40–46 weeks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325880"/>
            <a:ext cx="8778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325880"/>
            <a:ext cx="960120" cy="42062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32588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880" y="153619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88720" y="1353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Setup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88720" y="155448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wks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29000" y="138988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design, draw.io diagrams, PPTX scope deck, VS Code, Git, Docker setup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1792224"/>
            <a:ext cx="8778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792224"/>
            <a:ext cx="960120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79222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2880" y="2002536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88720" y="18196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Skeleton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88720" y="20208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wks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18562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project scaffold, PostgreSQL setup, Flyway, Keycloak, Docker Compose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258568"/>
            <a:ext cx="8778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" y="2258568"/>
            <a:ext cx="960120" cy="42062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258568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2880" y="246888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7–14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22860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Middleware — FAST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88720" y="24871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wks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29000" y="232257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ingestion, ISO 8583/20022 parsing, transformation engine, CAS/G3 adapter, unit tests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2724912"/>
            <a:ext cx="8778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2724912"/>
            <a:ext cx="960120" cy="420624"/>
          </a:xfrm>
          <a:prstGeom prst="rect">
            <a:avLst/>
          </a:prstGeom>
          <a:solidFill>
            <a:srgbClr val="0E7C4A"/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272491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82880" y="293522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15–20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88720" y="27523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&amp; SG Domestic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88720" y="29535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wks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29000" y="27889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proxy resolution, end-to-end FAST/PayNow flow, replay engine, reconciliation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3191256"/>
            <a:ext cx="8778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3191256"/>
            <a:ext cx="960120" cy="42062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191256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82880" y="3401568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21–32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88720" y="3218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Phase 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88720" y="34198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wks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29000" y="325526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DuitNow, UPI, NAPAS, FPS, BI-FAST, InstaPay connectors — 2 weeks each for 6 networks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3657600"/>
            <a:ext cx="8778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" y="3657600"/>
            <a:ext cx="96012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365760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82880" y="386791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33–39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88720" y="3685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Portal (UI)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88720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wks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429000" y="37216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dashboard, transaction monitor, correction UI, replay console, reports, audit viewer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2880" y="4123944"/>
            <a:ext cx="8778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2880" y="4123944"/>
            <a:ext cx="960120" cy="42062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" y="4123944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82880" y="4334256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40–44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188720" y="41513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Security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88720" y="43525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wks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429000" y="41879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integration tests, Postman collections, OWASP ZAP scan, SonarQube, performance test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82880" y="4590288"/>
            <a:ext cx="87782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2880" y="4590288"/>
            <a:ext cx="960120" cy="42062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2880" y="4590288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82880" y="480060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45–48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188720" y="4617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Docs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188720" y="48188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wks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429000" y="465429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 dashboards, ELK setup, README, API docs (Swagger), final portfolio pack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Out of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87552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Assumptions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399032"/>
            <a:ext cx="420624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35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FAST/PayNow payment initiation is done via external Web Portal or Mobile App (not in scope)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76479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01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 will send payment messages to OpenBank via REST API or message queue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2130552"/>
            <a:ext cx="420624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OpenBank will transform and forward messages to CAS Host (Core Banking) or G3 Host (Payment GW)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249631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32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and G3 are simulated via mock stubs/WireMock in the POC environment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2862072"/>
            <a:ext cx="420624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986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partner networks (DuitNow, UPI, etc.) will be simulated with mock APIs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322783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264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UI access is restricted to Operations Team — no public user registration or login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3593592"/>
            <a:ext cx="420624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30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conversion rates will use a static/configurable rate table (no live FX feed)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959352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95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 &amp; ISO 20022 message formats are used for interbank communication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2880" y="4325112"/>
            <a:ext cx="4206240" cy="329184"/>
          </a:xfrm>
          <a:prstGeom prst="rect">
            <a:avLst/>
          </a:prstGeom>
          <a:solidFill>
            <a:srgbClr val="EA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361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PostgreSQL instance sufficient for POC (no HA/clustering required)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987552"/>
            <a:ext cx="42976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Out of Scope (This POC)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399032"/>
            <a:ext cx="4297680" cy="292608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43560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Customer-facing Web Portal development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728216"/>
            <a:ext cx="4297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17647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Mobile application (iOS / Android)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057400"/>
            <a:ext cx="4297680" cy="292608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09397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Live FX rate feeds &amp; dynamic currency conversion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386584"/>
            <a:ext cx="4297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4231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Card payments (Visa, Mastercard acquiring/issuing)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715768"/>
            <a:ext cx="4297680" cy="292608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75234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Digital wallet integrations (GrabPay, PayLah!)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044952"/>
            <a:ext cx="4297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0815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Remittance services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374136"/>
            <a:ext cx="4297680" cy="292608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41071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GIRO, NETS, MEPS+ (Phase B — planned for later)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703320"/>
            <a:ext cx="4297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373989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SWIFT messaging (Phase B — planned for later)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4032504"/>
            <a:ext cx="4297680" cy="292608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406908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Production deployment &amp; cloud infrastructure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4361688"/>
            <a:ext cx="4297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439826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Regulatory submissions (MAS compliance)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320040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01568" y="960120"/>
            <a:ext cx="10058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960120"/>
            <a:ext cx="10058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58968" y="960120"/>
            <a:ext cx="3502152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0058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10058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50408" y="10058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344168"/>
            <a:ext cx="8778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message format complexity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47288" y="1435608"/>
            <a:ext cx="868680" cy="228600"/>
          </a:xfrm>
          <a:prstGeom prst="rect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1435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80560" y="1435608"/>
            <a:ext cx="868680" cy="228600"/>
          </a:xfrm>
          <a:prstGeom prst="rect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435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0" y="13990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proven Java libraries (j8583, JAXB); build mock simulators early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1801368"/>
            <a:ext cx="8778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time (&lt; 5 hrs/week)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47288" y="1892808"/>
            <a:ext cx="868680" cy="228600"/>
          </a:xfrm>
          <a:prstGeom prst="rect">
            <a:avLst/>
          </a:prstGeom>
          <a:solidFill>
            <a:srgbClr val="E67E22">
              <a:alpha val="2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18928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80560" y="1892808"/>
            <a:ext cx="868680" cy="228600"/>
          </a:xfrm>
          <a:prstGeom prst="rect">
            <a:avLst/>
          </a:prstGeom>
          <a:solidFill>
            <a:srgbClr val="E67E22">
              <a:alpha val="2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18928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0" y="18562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Phase A only for portfolio; document Phase B/C as roadmap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2258568"/>
            <a:ext cx="8778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CAS/G3 behaviour differs from real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47288" y="2350008"/>
            <a:ext cx="868680" cy="228600"/>
          </a:xfrm>
          <a:prstGeom prst="rect">
            <a:avLst/>
          </a:prstGeom>
          <a:solidFill>
            <a:srgbClr val="E67E22">
              <a:alpha val="2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23500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480560" y="2350008"/>
            <a:ext cx="868680" cy="228600"/>
          </a:xfrm>
          <a:prstGeom prst="rect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23500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0" y="23134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integration specs clearly; use WireMock with realistic payloads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2715768"/>
            <a:ext cx="8778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format differences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47288" y="2807208"/>
            <a:ext cx="868680" cy="228600"/>
          </a:xfrm>
          <a:prstGeom prst="rect">
            <a:avLst/>
          </a:prstGeom>
          <a:solidFill>
            <a:srgbClr val="F0A500">
              <a:alpha val="2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7288" y="28072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80560" y="2807208"/>
            <a:ext cx="868680" cy="228600"/>
          </a:xfrm>
          <a:prstGeom prst="rect">
            <a:avLst/>
          </a:prstGeom>
          <a:solidFill>
            <a:srgbClr val="E67E22">
              <a:alpha val="2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28072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0" y="27706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adapter pattern — one adapter per network for easy extension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3172968"/>
            <a:ext cx="8778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vulnerabilities in Ops Portal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47288" y="3264408"/>
            <a:ext cx="868680" cy="228600"/>
          </a:xfrm>
          <a:prstGeom prst="rect">
            <a:avLst/>
          </a:prstGeom>
          <a:solidFill>
            <a:srgbClr val="E67E22">
              <a:alpha val="2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47288" y="32644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480560" y="3264408"/>
            <a:ext cx="868680" cy="228600"/>
          </a:xfrm>
          <a:prstGeom prst="rect">
            <a:avLst/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0560" y="32644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86400" y="32278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scan + Spring Security + Keycloak; role-based access enforced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2880" y="3630168"/>
            <a:ext cx="8778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(adding features)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47288" y="3721608"/>
            <a:ext cx="868680" cy="228600"/>
          </a:xfrm>
          <a:prstGeom prst="rect">
            <a:avLst/>
          </a:prstGeom>
          <a:solidFill>
            <a:srgbClr val="E67E22">
              <a:alpha val="2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47288" y="3721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480560" y="3721608"/>
            <a:ext cx="868680" cy="228600"/>
          </a:xfrm>
          <a:prstGeom prst="rect">
            <a:avLst/>
          </a:prstGeom>
          <a:solidFill>
            <a:srgbClr val="E67E22">
              <a:alpha val="2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0" y="37216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486400" y="36850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Phase A scope; log future features in a backlog doc, don't implement now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82880" y="4087368"/>
            <a:ext cx="8778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performance under load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447288" y="4178808"/>
            <a:ext cx="868680" cy="228600"/>
          </a:xfrm>
          <a:prstGeom prst="rect">
            <a:avLst/>
          </a:prstGeom>
          <a:solidFill>
            <a:srgbClr val="0E7C4A">
              <a:alpha val="25000"/>
            </a:srgbClr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47288" y="41788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480560" y="4178808"/>
            <a:ext cx="868680" cy="228600"/>
          </a:xfrm>
          <a:prstGeom prst="rect">
            <a:avLst/>
          </a:prstGeom>
          <a:solidFill>
            <a:srgbClr val="0E7C4A">
              <a:alpha val="25000"/>
            </a:srgbClr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0" y="41788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86400" y="41422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volume is low; add indexes on txn_id, status, network; use connection pooling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82880" y="4544568"/>
            <a:ext cx="8778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617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version conflicts (Java libs)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447288" y="4636008"/>
            <a:ext cx="868680" cy="228600"/>
          </a:xfrm>
          <a:prstGeom prst="rect">
            <a:avLst/>
          </a:prstGeom>
          <a:solidFill>
            <a:srgbClr val="F0A500">
              <a:alpha val="2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47288" y="46360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480560" y="4636008"/>
            <a:ext cx="868680" cy="228600"/>
          </a:xfrm>
          <a:prstGeom prst="rect">
            <a:avLst/>
          </a:prstGeom>
          <a:solidFill>
            <a:srgbClr val="0E7C4A">
              <a:alpha val="25000"/>
            </a:srgbClr>
          </a:solidFill>
          <a:ln w="12700">
            <a:solidFill>
              <a:srgbClr val="0E7C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80560" y="46360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486400" y="45994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Spring Boot BOM for dependency management; pin versions in pom.xml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743200"/>
            <a:ext cx="2743200" cy="2743200"/>
          </a:xfrm>
          <a:prstGeom prst="ellipse">
            <a:avLst/>
          </a:prstGeom>
          <a:solidFill>
            <a:srgbClr val="1A5276">
              <a:alpha val="30000"/>
            </a:srgbClr>
          </a:solidFill>
          <a:ln w="12700">
            <a:solidFill>
              <a:srgbClr val="1A527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5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5029200" cy="36576"/>
          </a:xfrm>
          <a:prstGeom prst="rect">
            <a:avLst/>
          </a:prstGeom>
          <a:solidFill>
            <a:srgbClr val="14BDEB"/>
          </a:solidFill>
          <a:ln w="12700">
            <a:solidFill>
              <a:srgbClr val="14B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3931920" cy="109728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4BDEB"/>
          </a:solidFill>
          <a:ln w="12700">
            <a:solidFill>
              <a:srgbClr val="14BD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344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Tools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645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Git, Docker Desktop, JDK 21, PostgreSQL, Node.js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3931920" cy="109728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25880"/>
            <a:ext cx="502920" cy="502920"/>
          </a:xfrm>
          <a:prstGeom prst="ellipse">
            <a:avLst/>
          </a:prstGeom>
          <a:solidFill>
            <a:srgbClr val="14BDEB"/>
          </a:solidFill>
          <a:ln w="12700">
            <a:solidFill>
              <a:srgbClr val="14BD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49240" y="1344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GitHub Repo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645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openbank-poc repository with proper folder structure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3931920" cy="109728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14BDEB"/>
          </a:solidFill>
          <a:ln w="12700">
            <a:solidFill>
              <a:srgbClr val="14BD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2578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Architecture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detailed architecture diagrams in draw.io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468880"/>
            <a:ext cx="3931920" cy="109728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560320"/>
            <a:ext cx="502920" cy="502920"/>
          </a:xfrm>
          <a:prstGeom prst="ellipse">
            <a:avLst/>
          </a:prstGeom>
          <a:solidFill>
            <a:srgbClr val="14BDEB"/>
          </a:solidFill>
          <a:ln w="12700">
            <a:solidFill>
              <a:srgbClr val="14BD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2578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Docker Compose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2880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Keycloak + Kafka + Redis in one compose file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3931920" cy="109728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4BDEB"/>
          </a:solidFill>
          <a:ln w="12700">
            <a:solidFill>
              <a:srgbClr val="14BD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3813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Spring Boot Skeleton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scaffold with modules, packages, and Flyway migrations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703320"/>
            <a:ext cx="3931920" cy="1097280"/>
          </a:xfrm>
          <a:prstGeom prst="rect">
            <a:avLst/>
          </a:prstGeom>
          <a:solidFill>
            <a:srgbClr val="1A5276">
              <a:alpha val="70000"/>
            </a:srgbClr>
          </a:solidFill>
          <a:ln w="12700">
            <a:solidFill>
              <a:srgbClr val="14BD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794760"/>
            <a:ext cx="502920" cy="502920"/>
          </a:xfrm>
          <a:prstGeom prst="ellipse">
            <a:avLst/>
          </a:prstGeom>
          <a:solidFill>
            <a:srgbClr val="14BDEB"/>
          </a:solidFill>
          <a:ln w="12700">
            <a:solidFill>
              <a:srgbClr val="14BD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49240" y="3813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FAST Ingestion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code: message listener → parser → transformer → CAS mock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OpenBank POC  •  Singapore Regional Payment System  •  Portfolio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OpenBank POC — Singapore Regional Payment System</dc:title>
  <dc:subject>PptxGenJS Presentation</dc:subject>
  <dc:creator>OpenBank Project Team</dc:creator>
  <cp:lastModifiedBy>OpenBank Project Team</cp:lastModifiedBy>
  <cp:revision>1</cp:revision>
  <dcterms:created xsi:type="dcterms:W3CDTF">2026-03-23T02:11:38Z</dcterms:created>
  <dcterms:modified xsi:type="dcterms:W3CDTF">2026-03-23T02:11:38Z</dcterms:modified>
</cp:coreProperties>
</file>